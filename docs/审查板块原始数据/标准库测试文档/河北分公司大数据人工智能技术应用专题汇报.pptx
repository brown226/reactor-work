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659" r:id="rId2"/>
    <p:sldId id="584" r:id="rId3"/>
    <p:sldId id="469" r:id="rId4"/>
    <p:sldId id="775" r:id="rId5"/>
    <p:sldId id="2245" r:id="rId6"/>
    <p:sldId id="318" r:id="rId7"/>
  </p:sldIdLst>
  <p:sldSz cx="12192000" cy="6858000"/>
  <p:notesSz cx="6797675" cy="9926638"/>
  <p:embeddedFontLst>
    <p:embeddedFont>
      <p:font typeface="Impact" panose="020B0806030902050204" pitchFamily="34" charset="0"/>
      <p:regular r:id="rId10"/>
    </p:embeddedFont>
    <p:embeddedFont>
      <p:font typeface="等线 Light" panose="02010600030101010101" pitchFamily="2" charset="-122"/>
      <p:regular r:id="rId11"/>
    </p:embeddedFont>
    <p:embeddedFont>
      <p:font typeface="微软雅黑" panose="020B0503020204020204" pitchFamily="34" charset="-122"/>
      <p:regular r:id="rId12"/>
      <p:bold r:id="rId13"/>
    </p:embeddedFont>
  </p:embeddedFontLst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39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4792"/>
    <a:srgbClr val="004EA2"/>
    <a:srgbClr val="FFF2CC"/>
    <a:srgbClr val="537CCB"/>
    <a:srgbClr val="FFFFFF"/>
    <a:srgbClr val="004C9D"/>
    <a:srgbClr val="F2EBE6"/>
    <a:srgbClr val="E5EDF6"/>
    <a:srgbClr val="D67270"/>
    <a:srgbClr val="E9F2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5984" autoAdjust="0"/>
  </p:normalViewPr>
  <p:slideViewPr>
    <p:cSldViewPr snapToGrid="0" showGuides="1">
      <p:cViewPr varScale="1">
        <p:scale>
          <a:sx n="82" d="100"/>
          <a:sy n="82" d="100"/>
        </p:scale>
        <p:origin x="638" y="72"/>
      </p:cViewPr>
      <p:guideLst>
        <p:guide orient="horz" pos="2150"/>
        <p:guide pos="395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891C0B-50C2-4E1E-B35A-1842F280D596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4D64-2B8E-451A-BF92-608443A48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916ABE0-61A0-4767-8462-1146C35CC5D6}" type="datetimeFigureOut">
              <a:rPr lang="zh-CN" altLang="en-US" smtClean="0"/>
              <a:t>2026/4/7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F3FDBE1-54BF-4D7C-B728-B2EDF9FE8C7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/>
          </p:nvPr>
        </p:nvSpPr>
        <p:spPr>
          <a:xfrm>
            <a:off x="5572947" y="7010411"/>
            <a:ext cx="4266222" cy="36896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 upright="1"/>
          <a:lstStyle/>
          <a:p>
            <a:fld id="{CAD2D6BD-DE1B-4B5F-8B41-2702339687B9}" type="slidenum">
              <a:rPr lang="en-US" altLang="zh-CN" sz="1400">
                <a:solidFill>
                  <a:prstClr val="black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</a:t>
            </a:fld>
            <a:endParaRPr lang="zh-CN" altLang="en-US" sz="1400">
              <a:solidFill>
                <a:prstClr val="black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3" name="对象"/>
          <p:cNvSpPr>
            <a:spLocks noGrp="1" noRot="1" noChangeAspect="1"/>
          </p:cNvSpPr>
          <p:nvPr>
            <p:ph type="sldImg"/>
          </p:nvPr>
        </p:nvSpPr>
        <p:spPr>
          <a:xfrm>
            <a:off x="2459038" y="552450"/>
            <a:ext cx="4921250" cy="27686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34" name="文本框"/>
          <p:cNvSpPr>
            <a:spLocks noGrp="1"/>
          </p:cNvSpPr>
          <p:nvPr>
            <p:ph type="body" idx="1"/>
          </p:nvPr>
        </p:nvSpPr>
        <p:spPr>
          <a:xfrm>
            <a:off x="1311891" y="3505207"/>
            <a:ext cx="7215389" cy="332072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/>
          </p:nvPr>
        </p:nvSpPr>
        <p:spPr>
          <a:xfrm>
            <a:off x="5572947" y="7010411"/>
            <a:ext cx="4266222" cy="36896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 upright="1"/>
          <a:lstStyle/>
          <a:p>
            <a:pPr algn="r"/>
            <a:fld id="{CAD2D6BD-DE1B-4B5F-8B41-2702339687B9}" type="slidenum"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</a:t>
            </a:fld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3" name="对象"/>
          <p:cNvSpPr>
            <a:spLocks noGrp="1" noRot="1" noChangeAspect="1"/>
          </p:cNvSpPr>
          <p:nvPr>
            <p:ph type="sldImg"/>
          </p:nvPr>
        </p:nvSpPr>
        <p:spPr>
          <a:xfrm>
            <a:off x="2459038" y="552450"/>
            <a:ext cx="4921250" cy="27686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34" name="文本框"/>
          <p:cNvSpPr>
            <a:spLocks noGrp="1"/>
          </p:cNvSpPr>
          <p:nvPr>
            <p:ph type="body" idx="1"/>
          </p:nvPr>
        </p:nvSpPr>
        <p:spPr>
          <a:xfrm>
            <a:off x="1311891" y="3505207"/>
            <a:ext cx="7215389" cy="332072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/>
          </p:nvPr>
        </p:nvSpPr>
        <p:spPr>
          <a:xfrm>
            <a:off x="5572947" y="7010411"/>
            <a:ext cx="4266222" cy="36896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 upright="1"/>
          <a:lstStyle/>
          <a:p>
            <a:pPr algn="r"/>
            <a:fld id="{CAD2D6BD-DE1B-4B5F-8B41-2702339687B9}" type="slidenum"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</a:t>
            </a:fld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3" name="对象"/>
          <p:cNvSpPr>
            <a:spLocks noGrp="1" noRot="1" noChangeAspect="1"/>
          </p:cNvSpPr>
          <p:nvPr>
            <p:ph type="sldImg"/>
          </p:nvPr>
        </p:nvSpPr>
        <p:spPr>
          <a:xfrm>
            <a:off x="2459038" y="552450"/>
            <a:ext cx="4921250" cy="27686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34" name="文本框"/>
          <p:cNvSpPr>
            <a:spLocks noGrp="1"/>
          </p:cNvSpPr>
          <p:nvPr>
            <p:ph type="body" idx="1"/>
          </p:nvPr>
        </p:nvSpPr>
        <p:spPr>
          <a:xfrm>
            <a:off x="1311891" y="3505207"/>
            <a:ext cx="7215389" cy="332072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/>
          </p:nvPr>
        </p:nvSpPr>
        <p:spPr>
          <a:xfrm>
            <a:off x="5572948" y="7010412"/>
            <a:ext cx="4266222" cy="36896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20" tIns="45712" rIns="91420" bIns="45712" anchor="b" anchorCtr="0" upright="1"/>
          <a:lstStyle/>
          <a:p>
            <a:pPr algn="r"/>
            <a:fld id="{CAD2D6BD-DE1B-4B5F-8B41-2702339687B9}" type="slidenum"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3" name="对象"/>
          <p:cNvSpPr>
            <a:spLocks noGrp="1" noRot="1" noChangeAspect="1"/>
          </p:cNvSpPr>
          <p:nvPr>
            <p:ph type="sldImg"/>
          </p:nvPr>
        </p:nvSpPr>
        <p:spPr>
          <a:xfrm>
            <a:off x="2459038" y="552450"/>
            <a:ext cx="4921250" cy="27686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34" name="文本框"/>
          <p:cNvSpPr>
            <a:spLocks noGrp="1"/>
          </p:cNvSpPr>
          <p:nvPr>
            <p:ph type="body" idx="1"/>
          </p:nvPr>
        </p:nvSpPr>
        <p:spPr>
          <a:xfrm>
            <a:off x="1311893" y="3505207"/>
            <a:ext cx="7215389" cy="332072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20" tIns="45712" rIns="91420" bIns="45712" anchor="t" anchorCtr="0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3FDBE1-54BF-4D7C-B728-B2EDF9FE8C71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/>
          </p:nvPr>
        </p:nvSpPr>
        <p:spPr>
          <a:xfrm>
            <a:off x="5133563" y="7072623"/>
            <a:ext cx="3929864" cy="37224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 upright="1"/>
          <a:lstStyle/>
          <a:p>
            <a:pPr algn="r"/>
            <a:fld id="{CAD2D6BD-DE1B-4B5F-8B41-2702339687B9}" type="slidenum"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6</a:t>
            </a:fld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3" name="对象"/>
          <p:cNvSpPr>
            <a:spLocks noGrp="1" noRot="1" noChangeAspect="1"/>
          </p:cNvSpPr>
          <p:nvPr>
            <p:ph type="sldImg"/>
          </p:nvPr>
        </p:nvSpPr>
        <p:spPr>
          <a:xfrm>
            <a:off x="2051050" y="558800"/>
            <a:ext cx="4960938" cy="27908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34" name="文本框"/>
          <p:cNvSpPr>
            <a:spLocks noGrp="1"/>
          </p:cNvSpPr>
          <p:nvPr>
            <p:ph type="body" idx="1"/>
          </p:nvPr>
        </p:nvSpPr>
        <p:spPr>
          <a:xfrm>
            <a:off x="1208458" y="3536312"/>
            <a:ext cx="6646511" cy="335018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E42E9-7CE9-4E67-B5D2-631420D230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E42E9-7CE9-4E67-B5D2-631420D230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E42E9-7CE9-4E67-B5D2-631420D230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E42E9-7CE9-4E67-B5D2-631420D230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E42E9-7CE9-4E67-B5D2-631420D230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E42E9-7CE9-4E67-B5D2-631420D230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E42E9-7CE9-4E67-B5D2-631420D230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E42E9-7CE9-4E67-B5D2-631420D230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E42E9-7CE9-4E67-B5D2-631420D230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E42E9-7CE9-4E67-B5D2-631420D230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E42E9-7CE9-4E67-B5D2-631420D230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noGrp="1"/>
          </p:cNvSpPr>
          <p:nvPr>
            <p:ph type="title"/>
          </p:nvPr>
        </p:nvSpPr>
        <p:spPr>
          <a:xfrm>
            <a:off x="609600" y="274630"/>
            <a:ext cx="10972800" cy="11429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16816" tIns="58409" rIns="116816" bIns="58409"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4" name="文本框"/>
          <p:cNvSpPr>
            <a:spLocks noGrp="1"/>
          </p:cNvSpPr>
          <p:nvPr>
            <p:ph type="body" idx="1"/>
          </p:nvPr>
        </p:nvSpPr>
        <p:spPr>
          <a:xfrm>
            <a:off x="609600" y="1600152"/>
            <a:ext cx="10972800" cy="452582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16816" tIns="58409" rIns="116816" bIns="58409" anchor="t" anchorCtr="0"/>
          <a:lstStyle/>
          <a:p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二级</a:t>
            </a:r>
            <a:endParaRPr lang="en-US" altLang="zh-CN" dirty="0"/>
          </a:p>
          <a:p>
            <a:pPr lvl="2"/>
            <a:r>
              <a:rPr lang="zh-CN" altLang="en-US" dirty="0"/>
              <a:t>三级</a:t>
            </a:r>
            <a:endParaRPr lang="en-US" altLang="zh-CN" dirty="0"/>
          </a:p>
          <a:p>
            <a:pPr lvl="3"/>
            <a:r>
              <a:rPr lang="zh-CN" altLang="en-US" dirty="0"/>
              <a:t>四级</a:t>
            </a:r>
            <a:endParaRPr lang="en-US" altLang="zh-CN" dirty="0"/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25" name="文本框"/>
          <p:cNvSpPr>
            <a:spLocks noGrp="1"/>
          </p:cNvSpPr>
          <p:nvPr>
            <p:ph type="dt" idx="10"/>
          </p:nvPr>
        </p:nvSpPr>
        <p:spPr>
          <a:xfrm>
            <a:off x="609601" y="6356154"/>
            <a:ext cx="2844800" cy="36511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16816" tIns="58409" rIns="116816" bIns="58409" anchor="ctr" anchorCtr="0"/>
          <a:lstStyle/>
          <a:p>
            <a:pPr algn="l"/>
            <a:endParaRPr lang="zh-CN" altLang="en-US" sz="20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ftr"/>
          </p:nvPr>
        </p:nvSpPr>
        <p:spPr>
          <a:xfrm>
            <a:off x="4165601" y="6356154"/>
            <a:ext cx="3860800" cy="36511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16816" tIns="58409" rIns="116816" bIns="58409" anchor="ctr" anchorCtr="0"/>
          <a:lstStyle/>
          <a:p>
            <a:pPr algn="ctr"/>
            <a:endParaRPr lang="zh-CN" altLang="en-US" sz="20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27" name="文本框"/>
          <p:cNvSpPr>
            <a:spLocks noGrp="1"/>
          </p:cNvSpPr>
          <p:nvPr>
            <p:ph type="sldNum"/>
          </p:nvPr>
        </p:nvSpPr>
        <p:spPr>
          <a:xfrm>
            <a:off x="8737600" y="6356154"/>
            <a:ext cx="2844800" cy="36511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16816" tIns="58409" rIns="116816" bIns="58409" anchor="ctr" anchorCtr="0"/>
          <a:lstStyle/>
          <a:p>
            <a:pPr algn="r"/>
            <a:fld id="{CAD2D6BD-DE1B-4B5F-8B41-2702339687B9}" type="slidenum">
              <a:rPr lang="en-US" altLang="zh-CN" sz="20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‹#›</a:t>
            </a:fld>
            <a:endParaRPr lang="zh-CN" altLang="en-US" sz="20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ADE42E9-7CE9-4E67-B5D2-631420D230F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3.jpe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207000" y="5072380"/>
            <a:ext cx="1778000" cy="564515"/>
          </a:xfrm>
          <a:prstGeom prst="roundRect">
            <a:avLst>
              <a:gd name="adj" fmla="val 29583"/>
            </a:avLst>
          </a:prstGeom>
          <a:solidFill>
            <a:schemeClr val="bg1"/>
          </a:solidFill>
          <a:ln>
            <a:solidFill>
              <a:srgbClr val="004EA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</a:t>
            </a:r>
            <a:r>
              <a:rPr lang="en-US" altLang="zh-CN" sz="2400" b="1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5.03</a:t>
            </a:r>
          </a:p>
        </p:txBody>
      </p:sp>
      <p:pic>
        <p:nvPicPr>
          <p:cNvPr id="19" name="图片 18" descr="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729318"/>
            <a:ext cx="12192000" cy="25984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8675" y="2246630"/>
            <a:ext cx="10534650" cy="1734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335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Regular" panose="020B0500000000000000" charset="-122"/>
              </a:rPr>
              <a:t>河北分公司</a:t>
            </a:r>
            <a:endParaRPr lang="en-US" altLang="zh-CN" sz="5335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Regular" panose="020B0500000000000000" charset="-122"/>
            </a:endParaRPr>
          </a:p>
          <a:p>
            <a:pPr algn="ctr"/>
            <a:r>
              <a:rPr lang="zh-CN" altLang="en-US" sz="5335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Regular" panose="020B0500000000000000" charset="-122"/>
              </a:rPr>
              <a:t>大数据人工智能技术应用专题汇报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333" y="129213"/>
            <a:ext cx="2914975" cy="16001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110"/>
            <a:ext cx="12241200" cy="688376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</p:pic>
      <p:sp>
        <p:nvSpPr>
          <p:cNvPr id="2" name="矩形 1"/>
          <p:cNvSpPr/>
          <p:nvPr/>
        </p:nvSpPr>
        <p:spPr>
          <a:xfrm>
            <a:off x="0" y="-32111"/>
            <a:ext cx="12241200" cy="6883761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42247" y="2145031"/>
            <a:ext cx="2893060" cy="1732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665" b="1" dirty="0">
                <a:solidFill>
                  <a:srgbClr val="004E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163706" y="3862836"/>
            <a:ext cx="2649855" cy="624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465" b="1" dirty="0">
                <a:solidFill>
                  <a:srgbClr val="004E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5593715" y="2042795"/>
            <a:ext cx="6204585" cy="2456180"/>
            <a:chOff x="8809" y="2955"/>
            <a:chExt cx="9771" cy="3868"/>
          </a:xfrm>
        </p:grpSpPr>
        <p:grpSp>
          <p:nvGrpSpPr>
            <p:cNvPr id="8" name="组合 7"/>
            <p:cNvGrpSpPr/>
            <p:nvPr>
              <p:custDataLst>
                <p:tags r:id="rId1"/>
              </p:custDataLst>
            </p:nvPr>
          </p:nvGrpSpPr>
          <p:grpSpPr>
            <a:xfrm>
              <a:off x="8817" y="2955"/>
              <a:ext cx="9558" cy="840"/>
              <a:chOff x="8817" y="2955"/>
              <a:chExt cx="9558" cy="840"/>
            </a:xfrm>
          </p:grpSpPr>
          <p:sp>
            <p:nvSpPr>
              <p:cNvPr id="20" name="文本框 19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0080" y="2964"/>
                <a:ext cx="8295" cy="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大数据人工智能</a:t>
                </a:r>
                <a:r>
                  <a:rPr lang="zh-CN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最新行业动态</a:t>
                </a:r>
              </a:p>
            </p:txBody>
          </p:sp>
          <p:sp>
            <p:nvSpPr>
              <p:cNvPr id="22" name="椭圆 21"/>
              <p:cNvSpPr/>
              <p:nvPr>
                <p:custDataLst>
                  <p:tags r:id="rId11"/>
                </p:custDataLst>
              </p:nvPr>
            </p:nvSpPr>
            <p:spPr>
              <a:xfrm>
                <a:off x="8823" y="2955"/>
                <a:ext cx="849" cy="840"/>
              </a:xfrm>
              <a:prstGeom prst="ellipse">
                <a:avLst/>
              </a:prstGeom>
              <a:solidFill>
                <a:srgbClr val="004EA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文本框 22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817" y="3013"/>
                <a:ext cx="861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</p:grpSp>
        <p:grpSp>
          <p:nvGrpSpPr>
            <p:cNvPr id="7" name="组合 6"/>
            <p:cNvGrpSpPr/>
            <p:nvPr>
              <p:custDataLst>
                <p:tags r:id="rId2"/>
              </p:custDataLst>
            </p:nvPr>
          </p:nvGrpSpPr>
          <p:grpSpPr>
            <a:xfrm>
              <a:off x="8812" y="4469"/>
              <a:ext cx="9768" cy="840"/>
              <a:chOff x="8812" y="4206"/>
              <a:chExt cx="9768" cy="840"/>
            </a:xfrm>
          </p:grpSpPr>
          <p:sp>
            <p:nvSpPr>
              <p:cNvPr id="32" name="文本框 3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0080" y="4215"/>
                <a:ext cx="8500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应用规划与应用场景</a:t>
                </a:r>
              </a:p>
            </p:txBody>
          </p:sp>
          <p:sp>
            <p:nvSpPr>
              <p:cNvPr id="36" name="椭圆 35"/>
              <p:cNvSpPr/>
              <p:nvPr>
                <p:custDataLst>
                  <p:tags r:id="rId8"/>
                </p:custDataLst>
              </p:nvPr>
            </p:nvSpPr>
            <p:spPr>
              <a:xfrm>
                <a:off x="8823" y="4206"/>
                <a:ext cx="849" cy="840"/>
              </a:xfrm>
              <a:prstGeom prst="ellipse">
                <a:avLst/>
              </a:prstGeom>
              <a:solidFill>
                <a:srgbClr val="004EA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文本框 36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8812" y="4263"/>
                <a:ext cx="871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</a:p>
            </p:txBody>
          </p:sp>
        </p:grpSp>
        <p:grpSp>
          <p:nvGrpSpPr>
            <p:cNvPr id="6" name="组合 5"/>
            <p:cNvGrpSpPr/>
            <p:nvPr>
              <p:custDataLst>
                <p:tags r:id="rId3"/>
              </p:custDataLst>
            </p:nvPr>
          </p:nvGrpSpPr>
          <p:grpSpPr>
            <a:xfrm>
              <a:off x="8809" y="5983"/>
              <a:ext cx="7778" cy="840"/>
              <a:chOff x="8809" y="5474"/>
              <a:chExt cx="7778" cy="840"/>
            </a:xfrm>
          </p:grpSpPr>
          <p:sp>
            <p:nvSpPr>
              <p:cNvPr id="41" name="文本框 40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0076" y="5483"/>
                <a:ext cx="6511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需领导关注的事项</a:t>
                </a:r>
              </a:p>
            </p:txBody>
          </p:sp>
          <p:sp>
            <p:nvSpPr>
              <p:cNvPr id="42" name="椭圆 41"/>
              <p:cNvSpPr/>
              <p:nvPr>
                <p:custDataLst>
                  <p:tags r:id="rId5"/>
                </p:custDataLst>
              </p:nvPr>
            </p:nvSpPr>
            <p:spPr>
              <a:xfrm>
                <a:off x="8820" y="5474"/>
                <a:ext cx="849" cy="840"/>
              </a:xfrm>
              <a:prstGeom prst="ellipse">
                <a:avLst/>
              </a:prstGeom>
              <a:solidFill>
                <a:srgbClr val="004EA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8809" y="5532"/>
                <a:ext cx="871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5"/>
          <p:cNvPicPr>
            <a:picLocks noChangeAspect="1"/>
          </p:cNvPicPr>
          <p:nvPr/>
        </p:nvPicPr>
        <p:blipFill rotWithShape="1">
          <a:blip r:embed="rId3" cstate="print"/>
          <a:srcRect l="17080"/>
          <a:stretch>
            <a:fillRect/>
          </a:stretch>
        </p:blipFill>
        <p:spPr>
          <a:xfrm>
            <a:off x="12315" y="1623272"/>
            <a:ext cx="12179685" cy="316060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026150" y="2910840"/>
            <a:ext cx="618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大数据人工智能最新行业动态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014185" y="2603222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一</a:t>
            </a:r>
            <a:endParaRPr lang="en-US" altLang="zh-CN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B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333" y="129213"/>
            <a:ext cx="2914975" cy="16001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00" y="-12880"/>
            <a:ext cx="12241200" cy="688376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</p:pic>
      <p:sp>
        <p:nvSpPr>
          <p:cNvPr id="2" name="矩形 1"/>
          <p:cNvSpPr/>
          <p:nvPr/>
        </p:nvSpPr>
        <p:spPr>
          <a:xfrm>
            <a:off x="-24600" y="-17780"/>
            <a:ext cx="12241200" cy="6883761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3818" y="1631788"/>
            <a:ext cx="2828925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04E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  <a:p>
            <a:pPr algn="ctr"/>
            <a:r>
              <a:rPr lang="zh-CN" altLang="en-US" sz="7200" b="1" dirty="0">
                <a:solidFill>
                  <a:srgbClr val="004E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lang="en-US" altLang="zh-CN" sz="7200" b="1" dirty="0">
                <a:solidFill>
                  <a:srgbClr val="004E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7200" b="1" dirty="0">
                <a:solidFill>
                  <a:srgbClr val="004E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972397" y="3940176"/>
            <a:ext cx="2673104" cy="625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465" b="1" dirty="0">
                <a:solidFill>
                  <a:srgbClr val="004E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381400" y="2024380"/>
            <a:ext cx="4139196" cy="2562225"/>
            <a:chOff x="6774" y="3188"/>
            <a:chExt cx="6518" cy="4035"/>
          </a:xfrm>
        </p:grpSpPr>
        <p:grpSp>
          <p:nvGrpSpPr>
            <p:cNvPr id="35" name="iṥ1íďê"/>
            <p:cNvGrpSpPr/>
            <p:nvPr/>
          </p:nvGrpSpPr>
          <p:grpSpPr>
            <a:xfrm>
              <a:off x="6774" y="3257"/>
              <a:ext cx="5906" cy="811"/>
              <a:chOff x="4845362" y="1233465"/>
              <a:chExt cx="5000746" cy="651901"/>
            </a:xfrm>
          </p:grpSpPr>
          <p:sp>
            <p:nvSpPr>
              <p:cNvPr id="36" name="íšľîḑe"/>
              <p:cNvSpPr/>
              <p:nvPr/>
            </p:nvSpPr>
            <p:spPr>
              <a:xfrm>
                <a:off x="4845362" y="1233465"/>
                <a:ext cx="963513" cy="564578"/>
              </a:xfrm>
              <a:prstGeom prst="rect">
                <a:avLst/>
              </a:prstGeom>
              <a:noFill/>
              <a:ln w="38100" cap="rnd" cmpd="sng" algn="ctr">
                <a:noFill/>
                <a:prstDash val="solid"/>
                <a:round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defTabSz="914400">
                  <a:defRPr/>
                </a:pPr>
                <a:r>
                  <a:rPr lang="en-US" altLang="zh-CN" sz="2800" b="1" kern="0" dirty="0">
                    <a:solidFill>
                      <a:srgbClr val="004EA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1.1</a:t>
                </a:r>
                <a:endParaRPr lang="zh-CN" altLang="en-US" sz="2800" b="1" kern="0" dirty="0">
                  <a:solidFill>
                    <a:srgbClr val="004E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í$lîḑé"/>
              <p:cNvSpPr/>
              <p:nvPr/>
            </p:nvSpPr>
            <p:spPr bwMode="auto">
              <a:xfrm>
                <a:off x="6369481" y="1383599"/>
                <a:ext cx="3476627" cy="5017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zh-CN" sz="2000" b="1" dirty="0">
                  <a:solidFill>
                    <a:srgbClr val="0C0C0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9" name="矩形 28"/>
            <p:cNvSpPr/>
            <p:nvPr/>
          </p:nvSpPr>
          <p:spPr>
            <a:xfrm>
              <a:off x="7912" y="3188"/>
              <a:ext cx="5380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大数据人工智能概述</a:t>
              </a:r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7" name="iṥ1íďê"/>
            <p:cNvGrpSpPr/>
            <p:nvPr/>
          </p:nvGrpSpPr>
          <p:grpSpPr>
            <a:xfrm>
              <a:off x="6774" y="4312"/>
              <a:ext cx="5906" cy="811"/>
              <a:chOff x="4845362" y="1233465"/>
              <a:chExt cx="5000746" cy="651901"/>
            </a:xfrm>
          </p:grpSpPr>
          <p:sp>
            <p:nvSpPr>
              <p:cNvPr id="48" name="íšľîḑe"/>
              <p:cNvSpPr/>
              <p:nvPr/>
            </p:nvSpPr>
            <p:spPr>
              <a:xfrm>
                <a:off x="4845362" y="1233465"/>
                <a:ext cx="963513" cy="564578"/>
              </a:xfrm>
              <a:prstGeom prst="rect">
                <a:avLst/>
              </a:prstGeom>
              <a:noFill/>
              <a:ln w="38100" cap="rnd" cmpd="sng" algn="ctr">
                <a:noFill/>
                <a:prstDash val="solid"/>
                <a:round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defTabSz="914400">
                  <a:defRPr/>
                </a:pPr>
                <a:r>
                  <a:rPr lang="en-US" altLang="zh-CN" sz="2800" b="1" kern="0" dirty="0">
                    <a:solidFill>
                      <a:srgbClr val="004EA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1.2</a:t>
                </a:r>
                <a:endParaRPr lang="zh-CN" altLang="en-US" sz="2800" b="1" kern="0" dirty="0">
                  <a:solidFill>
                    <a:srgbClr val="004E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í$lîḑé"/>
              <p:cNvSpPr/>
              <p:nvPr/>
            </p:nvSpPr>
            <p:spPr bwMode="auto">
              <a:xfrm>
                <a:off x="6369481" y="1383599"/>
                <a:ext cx="3476627" cy="5017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zh-CN" sz="2000" b="1" dirty="0">
                  <a:solidFill>
                    <a:srgbClr val="0C0C0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8" name="iṥ1íďê"/>
            <p:cNvGrpSpPr/>
            <p:nvPr/>
          </p:nvGrpSpPr>
          <p:grpSpPr>
            <a:xfrm>
              <a:off x="6774" y="5393"/>
              <a:ext cx="5906" cy="1790"/>
              <a:chOff x="4845362" y="1233465"/>
              <a:chExt cx="5000746" cy="1437797"/>
            </a:xfrm>
          </p:grpSpPr>
          <p:sp>
            <p:nvSpPr>
              <p:cNvPr id="69" name="íšľîḑe"/>
              <p:cNvSpPr/>
              <p:nvPr/>
            </p:nvSpPr>
            <p:spPr>
              <a:xfrm>
                <a:off x="4845362" y="1233465"/>
                <a:ext cx="963513" cy="564578"/>
              </a:xfrm>
              <a:prstGeom prst="rect">
                <a:avLst/>
              </a:prstGeom>
              <a:noFill/>
              <a:ln w="38100" cap="rnd" cmpd="sng" algn="ctr">
                <a:noFill/>
                <a:prstDash val="solid"/>
                <a:round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defTabSz="914400">
                  <a:defRPr/>
                </a:pPr>
                <a:r>
                  <a:rPr lang="en-US" altLang="zh-CN" sz="2800" b="1" kern="0" dirty="0">
                    <a:solidFill>
                      <a:srgbClr val="004EA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1.3</a:t>
                </a:r>
                <a:endParaRPr lang="zh-CN" altLang="en-US" sz="2800" b="1" kern="0" dirty="0">
                  <a:solidFill>
                    <a:srgbClr val="004E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í$lîḑé"/>
              <p:cNvSpPr/>
              <p:nvPr/>
            </p:nvSpPr>
            <p:spPr bwMode="auto">
              <a:xfrm>
                <a:off x="6369481" y="1383599"/>
                <a:ext cx="3476627" cy="5017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zh-CN" sz="2000" b="1" dirty="0">
                  <a:solidFill>
                    <a:srgbClr val="0C0C0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" name="íšľîḑe"/>
              <p:cNvSpPr/>
              <p:nvPr/>
            </p:nvSpPr>
            <p:spPr>
              <a:xfrm>
                <a:off x="4846209" y="2106684"/>
                <a:ext cx="963513" cy="564578"/>
              </a:xfrm>
              <a:prstGeom prst="rect">
                <a:avLst/>
              </a:prstGeom>
              <a:noFill/>
              <a:ln w="38100" cap="rnd" cmpd="sng" algn="ctr">
                <a:noFill/>
                <a:prstDash val="solid"/>
                <a:round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defTabSz="914400">
                  <a:defRPr/>
                </a:pPr>
                <a:r>
                  <a:rPr lang="en-US" altLang="zh-CN" sz="2800" b="1" kern="0" dirty="0">
                    <a:solidFill>
                      <a:srgbClr val="004EA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1.4</a:t>
                </a:r>
                <a:endParaRPr lang="zh-CN" altLang="en-US" sz="2800" b="1" kern="0" dirty="0">
                  <a:solidFill>
                    <a:srgbClr val="004E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" name="矩形 31"/>
            <p:cNvSpPr/>
            <p:nvPr/>
          </p:nvSpPr>
          <p:spPr>
            <a:xfrm>
              <a:off x="7912" y="4281"/>
              <a:ext cx="3118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大模型现状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7912" y="5315"/>
              <a:ext cx="5367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DeepSeek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应用现状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7913" y="6401"/>
              <a:ext cx="5328" cy="82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集团及公司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应用现状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880110" y="965200"/>
            <a:ext cx="10795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8" name="图片 6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520" y="246380"/>
            <a:ext cx="1318260" cy="7239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-37465" y="387350"/>
            <a:ext cx="10234249" cy="595630"/>
            <a:chOff x="-305" y="610"/>
            <a:chExt cx="20083" cy="1169"/>
          </a:xfrm>
        </p:grpSpPr>
        <p:sp>
          <p:nvSpPr>
            <p:cNvPr id="14" name="同侧圆角矩形 20"/>
            <p:cNvSpPr/>
            <p:nvPr>
              <p:custDataLst>
                <p:tags r:id="rId1"/>
              </p:custDataLst>
            </p:nvPr>
          </p:nvSpPr>
          <p:spPr>
            <a:xfrm rot="5400000">
              <a:off x="212" y="93"/>
              <a:ext cx="1169" cy="220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endParaRPr lang="zh-CN" altLang="en-US" sz="1400" dirty="0">
                <a:latin typeface="Impact" panose="020B0806030902050204" pitchFamily="34" charset="0"/>
                <a:ea typeface="微软雅黑" panose="020B0503020204020204" pitchFamily="34" charset="-122"/>
                <a:sym typeface="HarmonyOS Sans SC" panose="00000500000000000000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2"/>
              </p:custDataLst>
            </p:nvPr>
          </p:nvSpPr>
          <p:spPr>
            <a:xfrm>
              <a:off x="1879" y="632"/>
              <a:ext cx="17899" cy="10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b="1" dirty="0">
                <a:solidFill>
                  <a:srgbClr val="00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7" name="椭圆 16"/>
            <p:cNvSpPr/>
            <p:nvPr>
              <p:custDataLst>
                <p:tags r:id="rId3"/>
              </p:custDataLst>
            </p:nvPr>
          </p:nvSpPr>
          <p:spPr>
            <a:xfrm>
              <a:off x="796" y="735"/>
              <a:ext cx="919" cy="919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/>
              <a:r>
                <a:rPr kumimoji="1" lang="en-US" altLang="zh-CN" sz="2000" b="1" dirty="0">
                  <a:solidFill>
                    <a:srgbClr val="004E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HarmonyOS Sans SC" panose="00000500000000000000" charset="-122"/>
                </a:rPr>
                <a:t>2.1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729318"/>
            <a:ext cx="12192000" cy="25984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26175" y="2037744"/>
            <a:ext cx="4339650" cy="19851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zh-CN" altLang="en-US" sz="533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Regular" panose="020B0500000000000000" charset="-122"/>
              </a:rPr>
              <a:t>感谢各位领导</a:t>
            </a:r>
            <a:endParaRPr lang="en-US" altLang="zh-CN" sz="533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Regular" panose="020B0500000000000000" charset="-122"/>
            </a:endParaRPr>
          </a:p>
          <a:p>
            <a:pPr algn="ctr">
              <a:lnSpc>
                <a:spcPts val="7700"/>
              </a:lnSpc>
            </a:pP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Regular" panose="020B0500000000000000" charset="-122"/>
              </a:rPr>
              <a:t>请批评指正！</a:t>
            </a:r>
            <a:endParaRPr lang="zh-CN" altLang="en-US" sz="533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Regular" panose="020B05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333" y="129213"/>
            <a:ext cx="2914975" cy="1600105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5207000" y="5072380"/>
            <a:ext cx="1778000" cy="56451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004EA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</a:t>
            </a:r>
            <a:r>
              <a:rPr lang="en-US" altLang="zh-CN" sz="24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5.03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50013442,50040507,50043700,50028586,50020256,50023491,20280016,50040707,50028931,50040846,50040987,4532465,50004441,21559476,21547412,21539141,21585148,4526038,50019729,4524010,50037071,50025952,20286873,20281448,20278180,3644788,3649316,50019457,50019515,50013499,50019979,50003655,50010421,50048060,50021711]}"/>
  <p:tag name="COMMONDATA" val="eyJoZGlkIjoiZGE5NDUyODk0ZGFkNTM0ZWI0NmU1MTRjNDA1ZGU3ND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1,&quot;left&quot;:440.45,&quot;top&quot;:147.75,&quot;width&quot;:389.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1,&quot;left&quot;:440.45,&quot;top&quot;:147.75,&quot;width&quot;:389.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1,&quot;left&quot;:440.45,&quot;top&quot;:147.75,&quot;width&quot;:389.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1,&quot;left&quot;:440.45,&quot;top&quot;:147.75,&quot;width&quot;:389.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1,&quot;left&quot;:440.45,&quot;top&quot;:147.75,&quot;width&quot;:389.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1,&quot;left&quot;:440.45,&quot;top&quot;:147.75,&quot;width&quot;:389.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1,&quot;left&quot;:440.45,&quot;top&quot;:147.75,&quot;width&quot;:389.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1,&quot;left&quot;:440.45,&quot;top&quot;:147.75,&quot;width&quot;:389.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1,&quot;left&quot;:440.45,&quot;top&quot;:147.75,&quot;width&quot;:389.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1,&quot;left&quot;:440.45,&quot;top&quot;:147.75,&quot;width&quot;:389.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1,&quot;left&quot;:440.45,&quot;top&quot;:147.75,&quot;width&quot;:389.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1,&quot;left&quot;:440.45,&quot;top&quot;:147.75,&quot;width&quot;:389.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77</Words>
  <Application>Microsoft Office PowerPoint</Application>
  <PresentationFormat>宽屏</PresentationFormat>
  <Paragraphs>34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微软雅黑</vt:lpstr>
      <vt:lpstr>Times New Roman</vt:lpstr>
      <vt:lpstr>Impact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王璐</dc:creator>
  <cp:lastModifiedBy>Brown 田</cp:lastModifiedBy>
  <cp:revision>1333</cp:revision>
  <cp:lastPrinted>2025-03-21T01:06:24Z</cp:lastPrinted>
  <dcterms:created xsi:type="dcterms:W3CDTF">2022-12-28T08:09:00Z</dcterms:created>
  <dcterms:modified xsi:type="dcterms:W3CDTF">2026-04-07T09:56:22Z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75D41CD4A9624E838505F6D692F032D2_12</vt:lpwstr>
  </property>
  <property fmtid="{D5CDD505-2E9C-101B-9397-08002B2CF9AE}" pid="3" name="KSOProductBuildVer">
    <vt:lpwstr>2052-12.1.0.20305</vt:lpwstr>
  </property>
</Properties>
</file>